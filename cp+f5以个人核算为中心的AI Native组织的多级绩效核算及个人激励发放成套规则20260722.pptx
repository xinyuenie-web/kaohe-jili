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2011680" cy="50800"/>
          </a:xfrm>
          <a:prstGeom prst="rect">
            <a:avLst/>
          </a:prstGeom>
          <a:solidFill>
            <a:srgbClr val="F2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lang="zh-CN">
                <a:solidFill>
                  <a:srgbClr val="FFFFFF"/>
                </a:solidFill>
                <a:latin typeface="微软雅黑"/>
                <a:ea typeface="微软雅黑"/>
              </a:rPr>
              <a:t>以个人核算为中心的AI Native组织
多级绩效核算及个人激励发放成套规则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zh-CN">
                <a:solidFill>
                  <a:srgbClr val="CFDCEE"/>
                </a:solidFill>
                <a:latin typeface="微软雅黑"/>
                <a:ea typeface="微软雅黑"/>
              </a:rPr>
              <a:t>三个分类分级 × 五级核算 × 两个周期 —— 账怎么算、钱怎么发、系统怎么跑、争议怎么裁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lang="zh-CN">
                <a:solidFill>
                  <a:srgbClr val="9FB4D0"/>
                </a:solidFill>
                <a:latin typeface="微软雅黑"/>
                <a:ea typeface="微软雅黑"/>
              </a:rPr>
              <a:t>云基智慧股份有限公司 · 人力资源部 · 2026年7月22日 · 编号 cp+f5-20260722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总体设计逻辑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办法定原则，规则定动作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三个分类分级（基础颗粒）：人的分类分级（谁在干）× 工作的分类分级（干什么）× 交付的分类分级（干得怎么样）→ 三者相乘生成个人确权产值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五级核算（架构）：个人→项目→部门→板块→公司，自下而上汇总、自上而下穿透，个人账是全部账的原子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两个周期（节奏）：月度算达标账、兑现账——多劳多得当月见；年度算总账、位次账——干好干坏年终清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国内外借鉴：华为获取分享制（先算包再分包）、阿米巴（最小经营单元）、海尔人单合一（抢单机制）、OKR+校准会（防打分膨胀）、Netflix（高绩效高回报果断汰换）、GitLab等AI Native组织（流程即代码、AI贡献可计量）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第一层：人员分类分级（谁在干）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五序列 × P1—P7/M1—M4，逐级锚定标准值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职级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Y0相对系数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年度创收标准值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年度创利标准值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P1 助理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指导下完成丙级包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P2 专员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独立完成乙级包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P3 骨干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独立完成甲级包并带教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P4 资深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负责子系统/子项目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P5—P7 专家系列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跨项目/板块/公司级能力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3.8—6.5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14.0—25.0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4.5—8.0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M1—M3 管理系列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项目/部门/板块核算责任人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对应P3—P6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按单元目标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按单元目标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lang="zh-CN">
                <a:solidFill>
                  <a:srgbClr val="1F3B63"/>
                </a:solidFill>
                <a:latin typeface="微软雅黑"/>
                <a:ea typeface="微软雅黑"/>
              </a:rPr>
              <a:t>▪ 个人目标=序列职级标准值×部门任务系数（0.8—1.3），双向签认；职能序列改考服务达标率70%+内部满意度30%</a:t>
            </a:r>
          </a:p>
          <a:p>
            <a:pPr>
              <a:spcAft>
                <a:spcPts val="600"/>
              </a:spcAft>
            </a:pPr>
            <a:r>
              <a:rPr sz="1250" b="0" lang="zh-CN">
                <a:solidFill>
                  <a:srgbClr val="1F3B63"/>
                </a:solidFill>
                <a:latin typeface="微软雅黑"/>
                <a:ea typeface="微软雅黑"/>
              </a:rPr>
              <a:t>▪ 晋降级：连续两年K≥1.2晋级、K≥1.5可破格；年度K&lt;0.7降级，连续两年降两级或退出；新人前3个月按标准值60%核算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第二层：工作分类分级（干什么）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一切可核算工作必须包化，标准点数（PU）统一计量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63880">
                <a:tc>
                  <a:txBody>
                    <a:bodyPr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计点规则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示例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线索L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L1立项2PU / L2商机5PU / L3招采12PU / L4中标按合同额万分之五追加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公开发布、公开认领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开发K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合同额分档计点（10万→1/0.6/0.3PU三档递减）×难度系数（竞标1.3/邀标1.0/续签0.7）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团队分配比例立项时约定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收入I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每1万确认收入=1PU×产品毛利系数（1.2/1.0/0.8）×验收系数Q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滑动收入按完工进度确认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预估工时×复杂度（1人天=1PU×0.8—1.5）；产品化追加收入1%—3%分成；发明专利+15PU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成果验收后确权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管理G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定额点数（M1:40/M2:60/M3:90 PU月）×单元达标率（封顶120%）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亲自干业务≤定额50%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lang="zh-CN">
                <a:solidFill>
                  <a:srgbClr val="1F3B63"/>
                </a:solidFill>
                <a:latin typeface="微软雅黑"/>
                <a:ea typeface="微软雅黑"/>
              </a:rPr>
              <a:t>▪ 难度分级：甲1.3 / 乙1.0 / 丙0.7；丙级先评估AI可替代性，AI可做的人只确权监督校验点数（30%）；个人丙级占比上限30%</a:t>
            </a:r>
          </a:p>
          <a:p>
            <a:pPr>
              <a:spcAft>
                <a:spcPts val="600"/>
              </a:spcAft>
            </a:pPr>
            <a:r>
              <a:rPr sz="1200" b="0" lang="zh-CN">
                <a:solidFill>
                  <a:srgbClr val="1F3B63"/>
                </a:solidFill>
                <a:latin typeface="微软雅黑"/>
                <a:ea typeface="微软雅黑"/>
              </a:rPr>
              <a:t>▪ 刚性公示：1PU计价年度核定公示；工作包发布即公示点数与验收标准，认领即锁定，48小时无人认领可指派+10%紧急系数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第三层：交付分类分级（干得怎么样）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A/B/C/D四级验收，系数直接乘入确权产值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判定标准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应用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 优秀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一次通过+超出标准+复用≥2次或客户书面表扬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入晋级案例库，验收人须附证据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 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一次通过，达到全部验收标准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默认档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 勉强合格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一次返工后通过或存在非关键缺陷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季度3次C触发面谈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 不合格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两次返工未过 / 逾期超30% / 造成损失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不确权，点数归返工承接人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lang="zh-CN">
                <a:solidFill>
                  <a:srgbClr val="1F3B63"/>
                </a:solidFill>
                <a:latin typeface="微软雅黑"/>
                <a:ea typeface="微软雅黑"/>
              </a:rPr>
              <a:t>▪ 验收治理：验收人发布时锁定、禁止自验；超3个工作日未验自动升级上一级；A占比&gt;40%或D占比&gt;30%触发双盲抽检，抽检不符率&gt;20%扣验收人管理点数20%</a:t>
            </a:r>
          </a:p>
          <a:p>
            <a:pPr>
              <a:spcAft>
                <a:spcPts val="600"/>
              </a:spcAft>
            </a:pPr>
            <a:r>
              <a:rPr sz="1250" b="0" lang="zh-CN">
                <a:solidFill>
                  <a:srgbClr val="1F3B63"/>
                </a:solidFill>
                <a:latin typeface="微软雅黑"/>
                <a:ea typeface="微软雅黑"/>
              </a:rPr>
              <a:t>▪ 客户正式验收优先于内部评级，差额次月追溯调整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年度多级核算：目标分解与算总账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目标分解（12月—次年1月）：公司定目标与总包红线（工资奖金总包增幅≤毛利增幅）→ 板块签《年度经营责任书》→ 部门/项目目标库 → 个人目标签认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校验规则：每级Σ下级目标≥本级目标×105%，留5%冗余防目标悬空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年度算账（次年1月15日前）：个人年度累计核算总收入=Y0×K；清算额=总收入-全年已发（S1+S2+S3+S4），正数春节前发放，负数次年分期抵扣（每月≤当月S3的50%）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相对位次：同序列同职级按K排序，前10%卓越（晋级+超额分享优先），后5%进入改进或退出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五级对账：公司毛利与Σ个人确权产值-总成本偏差&gt;3%，启动全级次穿透，查清方可关年账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各级奖金包生成（获取分享制）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生成公式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约束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公司总包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公司实际毛利×计提比例（年初过会定，建议15%—25%）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毛利&lt;目标60%时总包缩减50%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公司总包×（板块毛利贡献占比×70%+达标率排名权重×30%）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贡献与进步并重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部门包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板块包×（部门毛利贡献占比×70%+达标率排名权重×30%）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同上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项目核算毛利×项目计提比例（立项时公示）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亏损不计提，补亏后计提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个人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按确权点数份额从项目/部门包分配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受Y0×K封顶（K上限1.8），超额滚存或专项奖励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月度核算日历（每月D1—D10）与公式链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事项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责任人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D1—D3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填报工作包产出与AI贡献度、考勤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员工/人力资源部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D4—D5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双向确认工作量与验收等级（逾期视同认可）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员工/项目经理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D6—D7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项目、部门三账合一核算校核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项目经理/部门负责人/运营部/财务部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D8—D9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板块关账 → 公司关账、毛利预警、结果公示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板块负责人/财务部/人力资源部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D10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随工资发放S1+S2+S3+S4，明细逐笔可追溯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人力资源部/财务部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lang="zh-CN">
                <a:solidFill>
                  <a:srgbClr val="1F3B63"/>
                </a:solidFill>
                <a:latin typeface="微软雅黑"/>
                <a:ea typeface="微软雅黑"/>
              </a:rPr>
              <a:t>▪ 公式链：确权产值=Σ(基准点数×难度×Q×人机分账)×PU计价 → 达标率=【创收%×权重+创利%×权重】×评价系数 → 项目/部门/板块/公司逐级汇总</a:t>
            </a:r>
          </a:p>
          <a:p>
            <a:pPr>
              <a:spcAft>
                <a:spcPts val="600"/>
              </a:spcAft>
            </a:pPr>
            <a:r>
              <a:rPr sz="1200" b="0" lang="zh-CN">
                <a:solidFill>
                  <a:srgbClr val="1F3B63"/>
                </a:solidFill>
                <a:latin typeface="微软雅黑"/>
                <a:ea typeface="微软雅黑"/>
              </a:rPr>
              <a:t>▪ 偏差控制：相邻两级账偏差&gt;2%触发穿透核查，查清前该单元奖金缓发；任一环节逾期平台自动亮灯上报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月度工资发放规则（S1+S2）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S1基础工资：深圳市最低工资标准，仅与考勤挂钩，保障劳动关系底线；待岗按最低工资或合同约定发放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S2岗位工资：按岗位称重与序列职级核定，职级调整次月生效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S2发放闸门：当月确权点数≥职级基本点数下限且考勤合格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S2梯度：达标率≥60%全额；&lt;60%当月按80%发放、差额挂账，恢复至80%以上一次性补发；连续3个月&lt;60%差额不补并触发调岗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异动：当月入离职按在岗天数折算，病事假按考勤制度折算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月度奖金发放规则（S3+S4）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S3公式：S3=MAX(0, S×兑现比例β)×信用系数C×回款系数R；其中S=Y0×K(当月)-截止上月累计已发(S1+S2+S3+S4)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β四档：≥100%→60%；80—100%→50%；60—80%→40%；&lt;60%→0（滚存年度清算）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信用系数C（0.8—1.05）：填报真实性+确认及时率+承诺兑现率，季度更新公示；回款系数R：≥90%→1.0；70—90%→0.85；&lt;70%→0.7，回款到位次月补差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S4里程碑兑现：中标20% / 回款50% / 验收30%，按确权点数份额分配；累计≥500元按月兑现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责任绑定：项目经理份额30%留存至终验；项目亏损或索赔从未兑现留存中优先冲抵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K值表九档（0.30—1.80）线性内插，年度过会审定；≥150%超额部分按30%即时加发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AI Native组织核算与激励专章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人机分账：个人确权点数=基准点数×[(1-α)+α×30%]，α为申报的AI贡献度（须附AI使用记录）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AI资产池：AI执行部分的70%点数沉淀为组织资产，季度结算奖励提示词/智能体/流程的沉淀者与推广者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成本入账：AI算力与订阅成本按用量分摊进核算单元创利口径——用AI也要算得过账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效能激励：同等质量工时降≥30%态度系数+0.05；智能体被复用1次+0.5PU（月封顶10PU）；季度AI效能榜为晋级必答项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技能重塑：低绩效且AI技能欠缺者，待岗培训必含AI技能重塑课程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红线：AI造假按数据造假最高档处理；涉密数据禁入未批准外部AI工具；核算算法全员公开可查、任何一笔可追溯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示例算例：让每个人看懂自己的账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要素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算例一：交付序列P3小王（达标）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算例二：开拓序列P4小李（85%）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当月确权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乙级包30PU(B级)+甲级包10×1.3×1.2=15.6PU+AI包7.2PU ≈50PU≈4.0万产值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按线索、中标、回款确权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综合达标率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104%×40%+98%×60%=100.4% → K≈1.00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85% → K≈0.825，β=50%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算账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S=14.0万-已发11.2万=2.8万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S=1.6万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S3兑现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2.8万×60%×C1.0×R1.0=1.68万，余额滚存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1.6万×50%×1.0×R0.85=0.68万，回款补齐后补差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管理动作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正常兑现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“待改进”档：当月面谈+提升计划留痕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争议处理、罚则与落地保障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lang="zh-CN">
                <a:solidFill>
                  <a:srgbClr val="1F3B63"/>
                </a:solidFill>
                <a:latin typeface="微软雅黑"/>
                <a:ea typeface="微软雅黑"/>
              </a:rPr>
              <a:t>▪ 三级申诉：面谈后3日内提交，部门（2日）→板块（2日）→分管副总裁（2日），重大报总裁；异议部分暂缓、裁定后多退少补；同类申诉季度&gt;3起触发规则复审</a:t>
            </a:r>
          </a:p>
          <a:p>
            <a:pPr>
              <a:spcAft>
                <a:spcPts val="600"/>
              </a:spcAft>
            </a:pPr>
            <a:r>
              <a:rPr sz="1350" b="0" lang="zh-CN">
                <a:solidFill>
                  <a:srgbClr val="1F3B63"/>
                </a:solidFill>
                <a:latin typeface="微软雅黑"/>
                <a:ea typeface="微软雅黑"/>
              </a:rPr>
              <a:t>▪ 罚则四类：数据造假/AI造假（追回+信用降至0.8+处分直至解除）；审核失职（主体/管理/领导责任连带，直至免职）；迟报漏报（扣态度与信用系数）；绕开平台发放（全额追回+追责管理链条）</a:t>
            </a:r>
          </a:p>
          <a:p>
            <a:pPr>
              <a:spcAft>
                <a:spcPts val="600"/>
              </a:spcAft>
            </a:pPr>
            <a:r>
              <a:rPr sz="1350" b="0" lang="zh-CN">
                <a:solidFill>
                  <a:srgbClr val="1F3B63"/>
                </a:solidFill>
                <a:latin typeface="微软雅黑"/>
                <a:ea typeface="微软雅黑"/>
              </a:rPr>
              <a:t>▪ 系统保障：五级看板实时可视、本人账目随时可查；关账冻结、修改留痕、保存≥5年</a:t>
            </a:r>
          </a:p>
          <a:p>
            <a:pPr>
              <a:spcAft>
                <a:spcPts val="600"/>
              </a:spcAft>
            </a:pPr>
            <a:r>
              <a:rPr sz="1350" b="0" lang="zh-CN">
                <a:solidFill>
                  <a:srgbClr val="1F3B63"/>
                </a:solidFill>
                <a:latin typeface="微软雅黑"/>
                <a:ea typeface="微软雅黑"/>
              </a:rPr>
              <a:t>▪ 落地节奏：前3个月双轨试算（只校准规则不兑现差异）→ 第4个月正式按本规则发放 → 年度复盘修订过会</a:t>
            </a:r>
          </a:p>
          <a:p>
            <a:pPr>
              <a:spcAft>
                <a:spcPts val="600"/>
              </a:spcAft>
            </a:pPr>
            <a:r>
              <a:rPr sz="1350" b="0" lang="zh-CN">
                <a:solidFill>
                  <a:srgbClr val="1F3B63"/>
                </a:solidFill>
                <a:latin typeface="微软雅黑"/>
                <a:ea typeface="微软雅黑"/>
              </a:rPr>
              <a:t>▪ 配套附表：序列职级标准值表、工作包三单、核算日历、K值表、个人月度算账单（一人一单）、申诉表、AI贡献度申报单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