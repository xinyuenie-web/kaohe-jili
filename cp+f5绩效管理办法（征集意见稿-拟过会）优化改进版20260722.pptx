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2011680" cy="50800"/>
          </a:xfrm>
          <a:prstGeom prst="rect">
            <a:avLst/>
          </a:prstGeom>
          <a:solidFill>
            <a:srgbClr val="F2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lang="zh-CN">
                <a:solidFill>
                  <a:srgbClr val="FFFFFF"/>
                </a:solidFill>
                <a:latin typeface="微软雅黑"/>
                <a:ea typeface="微软雅黑"/>
              </a:rPr>
              <a:t>绩效管理办法（征集意见稿-拟过会）优化改进版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zh-CN">
                <a:solidFill>
                  <a:srgbClr val="CFDCEE"/>
                </a:solidFill>
                <a:latin typeface="微软雅黑"/>
                <a:ea typeface="微软雅黑"/>
              </a:rPr>
              <a:t>以个人核算为中心 · 公司—板块—部门—项目—个人五级贯通 · 干和不干不一样，干多干少不一样，干好干坏不一样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lang="zh-CN">
                <a:solidFill>
                  <a:srgbClr val="9FB4D0"/>
                </a:solidFill>
                <a:latin typeface="微软雅黑"/>
                <a:ea typeface="微软雅黑"/>
              </a:rPr>
              <a:t>云基智慧股份有限公司 · 人力资源部 · 2026年7月22日 · 编号 cp+f5-20260722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  <a:p>
            <a:r>
              <a:rPr sz="1100" b="0" lang="zh-CN">
                <a:solidFill>
                  <a:srgbClr val="CFDCEE"/>
                </a:solidFill>
                <a:latin typeface="微软雅黑"/>
                <a:ea typeface="微软雅黑"/>
              </a:rPr>
              <a:t>本次汇报结构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lang="zh-CN">
                <a:solidFill>
                  <a:srgbClr val="1F3B63"/>
                </a:solidFill>
                <a:latin typeface="微软雅黑"/>
                <a:ea typeface="微软雅黑"/>
              </a:rPr>
              <a:t>▪ 一、修订总说明：相对原征集意见稿的九大改进</a:t>
            </a:r>
          </a:p>
          <a:p>
            <a:pPr>
              <a:spcAft>
                <a:spcPts val="600"/>
              </a:spcAft>
            </a:pPr>
            <a:r>
              <a:rPr sz="1600" b="0" lang="zh-CN">
                <a:solidFill>
                  <a:srgbClr val="1F3B63"/>
                </a:solidFill>
                <a:latin typeface="微软雅黑"/>
                <a:ea typeface="微软雅黑"/>
              </a:rPr>
              <a:t>▪ 二、目的与原则：从“全量化”到“以个人核算为中心”</a:t>
            </a:r>
          </a:p>
          <a:p>
            <a:pPr>
              <a:spcAft>
                <a:spcPts val="600"/>
              </a:spcAft>
            </a:pPr>
            <a:r>
              <a:rPr sz="1600" b="0" lang="zh-CN">
                <a:solidFill>
                  <a:srgbClr val="1F3B63"/>
                </a:solidFill>
                <a:latin typeface="微软雅黑"/>
                <a:ea typeface="微软雅黑"/>
              </a:rPr>
              <a:t>▪ 三、组织与职责：新增绩效管理委员会与板块负责人</a:t>
            </a:r>
          </a:p>
          <a:p>
            <a:pPr>
              <a:spcAft>
                <a:spcPts val="600"/>
              </a:spcAft>
            </a:pPr>
            <a:r>
              <a:rPr sz="1600" b="0" lang="zh-CN">
                <a:solidFill>
                  <a:srgbClr val="1F3B63"/>
                </a:solidFill>
                <a:latin typeface="微软雅黑"/>
                <a:ea typeface="微软雅黑"/>
              </a:rPr>
              <a:t>▪ 四、三个分类分级：人员 / 工作 / 交付</a:t>
            </a:r>
          </a:p>
          <a:p>
            <a:pPr>
              <a:spcAft>
                <a:spcPts val="600"/>
              </a:spcAft>
            </a:pPr>
            <a:r>
              <a:rPr sz="1600" b="0" lang="zh-CN">
                <a:solidFill>
                  <a:srgbClr val="1F3B63"/>
                </a:solidFill>
                <a:latin typeface="微软雅黑"/>
                <a:ea typeface="微软雅黑"/>
              </a:rPr>
              <a:t>▪ 五、五级核算架构与核算日历</a:t>
            </a:r>
          </a:p>
          <a:p>
            <a:pPr>
              <a:spcAft>
                <a:spcPts val="600"/>
              </a:spcAft>
            </a:pPr>
            <a:r>
              <a:rPr sz="1600" b="0" lang="zh-CN">
                <a:solidFill>
                  <a:srgbClr val="1F3B63"/>
                </a:solidFill>
                <a:latin typeface="微软雅黑"/>
                <a:ea typeface="微软雅黑"/>
              </a:rPr>
              <a:t>▪ 六、薪酬结构与月度发放（S1—S4、K值表）</a:t>
            </a:r>
          </a:p>
          <a:p>
            <a:pPr>
              <a:spcAft>
                <a:spcPts val="600"/>
              </a:spcAft>
            </a:pPr>
            <a:r>
              <a:rPr sz="1600" b="0" lang="zh-CN">
                <a:solidFill>
                  <a:srgbClr val="1F3B63"/>
                </a:solidFill>
                <a:latin typeface="微软雅黑"/>
                <a:ea typeface="微软雅黑"/>
              </a:rPr>
              <a:t>▪ 七、AI Native绩效管理专章</a:t>
            </a:r>
          </a:p>
          <a:p>
            <a:pPr>
              <a:spcAft>
                <a:spcPts val="600"/>
              </a:spcAft>
            </a:pPr>
            <a:r>
              <a:rPr sz="1600" b="0" lang="zh-CN">
                <a:solidFill>
                  <a:srgbClr val="1F3B63"/>
                </a:solidFill>
                <a:latin typeface="微软雅黑"/>
                <a:ea typeface="微软雅黑"/>
              </a:rPr>
              <a:t>▪ 八、面谈申诉、改进退出、数据治理与罚则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一、修订总说明：九大改进（1/2）</a:t>
            </a:r>
          </a:p>
          <a:p>
            <a:r>
              <a:rPr sz="1100" b="0" lang="zh-CN">
                <a:solidFill>
                  <a:srgbClr val="CFDCEE"/>
                </a:solidFill>
                <a:latin typeface="微软雅黑"/>
                <a:ea typeface="微软雅黑"/>
              </a:rPr>
              <a:t>对准原稿在可执行、可核算、可追溯上的短板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07720"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原稿问题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本版改进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缺板块层，公司与部门之间账算不清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确立公司—板块—部门—项目—个人五级核算，每级设核算单元与责任人，每月同口径关账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人员分类分级只有原则、无标准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五序列（经营开拓/生产交付/研发技术/职能支撑/经营管理）+ P1—P7/M1—M4双通道，逐级锚定标准年收入与创收创利标准值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五类工作无计量计价规则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工作包（WBS）为最小颗粒，标准点数制（PU）统一折算，发布即公示点数与计价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交付无分级，干好干坏一个样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交付A/B/C/D四级，验收系数1.2/1.0/0.7/0直接乘入确权产值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S3发放“多维因素”表述模糊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S3唯一公式：S×兑现比例β×信用系数C×回款系数R，人工调整须留痕公示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一、修订总说明：九大改进（2/2）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41248"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原稿问题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本版改进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绩效-激励对照表未给出K值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正文固化九档K值区间（0.30—1.80），修订须过会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未回应AI时代人机协同计量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新增AI Native专章：AI贡献度α分账、AI效能加分、AI资产池、AI造假追责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邮件通知+人工填报，数据不可控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数字化核算平台为唯一载体，核算日历全年固定（D1—D10），关账冻结、修改留痕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罚则只管数据造假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罚则扩至造假、迟报漏报、审核失职、绕开平台发放四类，逐类定档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二、目的与原则</a:t>
            </a:r>
          </a:p>
          <a:p>
            <a:r>
              <a:rPr sz="1100" b="0" lang="zh-CN">
                <a:solidFill>
                  <a:srgbClr val="CFDCEE"/>
                </a:solidFill>
                <a:latin typeface="微软雅黑"/>
                <a:ea typeface="微软雅黑"/>
              </a:rPr>
              <a:t>定位：全量化绩效管理，区别于个体业务承包制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目的：让每一份工作可计量、每一份交付可评级、每一份收益可追溯——“干和不干不一样，干多干少不一样，干好干坏不一样”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个人核算中心：个人账是五级账的原子，逐级汇总、逐级穿透，任何一级账不清即向下追溯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共生逻辑：大河有水小河满——组织承担市场、风险与资源，个人贡献专业价值，风险共担、成果共享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分配驱动工作：工作启动前把“分钱逻辑”讲清楚，工作包发布即公示点数与计价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员工自主管理：工作包公开发布、公开认领，激发主动找活的内生动力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评价方法：月度算绝对达标账并兑现，年度算相对位次账定晋升与去留（抓两头带中间）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AI Native原则：人机协同产出分账计量，鼓励用AI放大产能，禁止用AI伪造工作量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三、组织与职责</a:t>
            </a:r>
          </a:p>
          <a:p>
            <a:r>
              <a:rPr sz="1100" b="0" lang="zh-CN">
                <a:solidFill>
                  <a:srgbClr val="CFDCEE"/>
                </a:solidFill>
                <a:latin typeface="微软雅黑"/>
                <a:ea typeface="微软雅黑"/>
              </a:rPr>
              <a:t>新增两个关键角色，十二类主体各就其位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05790"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主体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核心职责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绩效管理委员会（新增）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总裁任主任；审定PU计价、K值表、序列职级标准年度修订；裁定跨板块争议与重大申诉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板块负责人（新增）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板块目标签认分解、板块月度关账、板块内争议一级裁定、风险单元穿透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员工 / 项目经理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认领工作包、填报产出与AI贡献度、双向确认 / 工作包分解发布、计点计价、验收评级、项目三账核算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部门负责人 / 区域发展总部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部门目标签认、所辖项目核算审核、申诉一级处理 / 区域项目核算数据审核确认与风险穿透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平台发展中心 / 运营部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标准值与PU计价体系制定修订 / 立项管理、月度核算清单、滑动收入确认、平台运维与核算日历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财务部 / 人力资源部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五级目标下达、成本数据、公司毛利核算预警 / 个人目标签认、考勤、月度核算与发放、K表测算、申诉处理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分管副总裁 / 总裁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按权限核定风险与申诉 / 全面指导、重大事项裁定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四、分类分级① 人员：五序列 × 双通道职级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序列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核算重心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达标率权重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经营开拓（B）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线索、中标、回款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创收70% / 创利30%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生产交付（D）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产值、验收、成本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创收40% / 创利60%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研发技术（R）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研发点数、产品收入分成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创收30% / 创利70%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职能支撑（F）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服务点数、内部客户评价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服务达标率100%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经营管理（M）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所辖核算单元经营结果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单元创收50% / 单元创利50%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lang="zh-CN">
                <a:solidFill>
                  <a:srgbClr val="1F3B63"/>
                </a:solidFill>
                <a:latin typeface="微软雅黑"/>
                <a:ea typeface="微软雅黑"/>
              </a:rPr>
              <a:t>▪ 职级：专业P1—P7、管理M1—M4双通道可互转；逐级锚定标准年收入Y0与创收创利标准值</a:t>
            </a:r>
          </a:p>
          <a:p>
            <a:pPr>
              <a:spcAft>
                <a:spcPts val="600"/>
              </a:spcAft>
            </a:pPr>
            <a:r>
              <a:rPr sz="1300" b="0" lang="zh-CN">
                <a:solidFill>
                  <a:srgbClr val="1F3B63"/>
                </a:solidFill>
                <a:latin typeface="微软雅黑"/>
                <a:ea typeface="微软雅黑"/>
              </a:rPr>
              <a:t>▪ 动态：连续两年K≥1.2可晋级；连续两年K&lt;0.7降级或退出；个人目标=序列职级标准值×部门任务系数（0.8—1.3）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四、分类分级② 工作：五类工作统一点数制（PU）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计量对象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计点规则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确权时点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线索L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有效线索、商机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L1—L4分级计点，转化中标追加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运营部立项确认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开发K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投标、方案、合同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合同额分档计点×中标难度系数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中标/签约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收入I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交付产值、确认收入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确认收入折点×产品毛利系数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收入确认+验收评级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研发Y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研发WBS、专利、产品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预估工时×复杂度，产品化追加分成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研发成果验收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管理G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管理事项包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月度定额点数×单元达标率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月度关账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lang="zh-CN">
                <a:solidFill>
                  <a:srgbClr val="1F3B63"/>
                </a:solidFill>
                <a:latin typeface="微软雅黑"/>
                <a:ea typeface="微软雅黑"/>
              </a:rPr>
              <a:t>▪ 工作分级：甲级系数1.3 / 乙级1.0 / 丙级0.7；丙级优先AI执行，个人丙级点数占比上限30%</a:t>
            </a:r>
          </a:p>
          <a:p>
            <a:pPr>
              <a:spcAft>
                <a:spcPts val="600"/>
              </a:spcAft>
            </a:pPr>
            <a:r>
              <a:rPr sz="1300" b="0" lang="zh-CN">
                <a:solidFill>
                  <a:srgbClr val="1F3B63"/>
                </a:solidFill>
                <a:latin typeface="微软雅黑"/>
                <a:ea typeface="微软雅黑"/>
              </a:rPr>
              <a:t>▪ 公示锁定：1 PU计价年度核定全员公示；工作包发布即公示点数与验收标准，认领即锁定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四、分类分级③ 交付：A/B/C/D四级验收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等级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判定标准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验收系数Q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结果应用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 优秀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一次通过且超出标准，被复用或客户表扬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1.2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点数上浮20%，入晋级案例库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 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一次通过验收，达到交付标准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按基准点数确权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C 勉强合格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返工一次通过，或有非关键缺陷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点数下浮30%，计辅导记录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D 不合格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两次返工未通过，或造成损失/严重逾期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不确权，按罚则处理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lang="zh-CN">
                <a:solidFill>
                  <a:srgbClr val="1F3B63"/>
                </a:solidFill>
                <a:latin typeface="微软雅黑"/>
                <a:ea typeface="微软雅黑"/>
              </a:rPr>
              <a:t>▪ 验收人发布时锁定、不得自验；结论与证据平台留痕；A级占比&gt;40%触发抽检复核</a:t>
            </a:r>
          </a:p>
          <a:p>
            <a:pPr>
              <a:spcAft>
                <a:spcPts val="600"/>
              </a:spcAft>
            </a:pPr>
            <a:r>
              <a:rPr sz="1300" b="0" lang="zh-CN">
                <a:solidFill>
                  <a:srgbClr val="1F3B63"/>
                </a:solidFill>
                <a:latin typeface="微软雅黑"/>
                <a:ea typeface="微软雅黑"/>
              </a:rPr>
              <a:t>▪ 客户正式验收与内部评级冲突时，以客户结论为准并追溯调整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五、五级核算架构与核算日历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五级账：个人账（工作包确权）→ 项目账（Σ确权产值-项目成本）→ 部门账 → 板块账 → 公司账，每月同口径关账、年度累计滚动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目标链：公司战略 → 板块 → 部门 → 项目 → 个人，逐级签认；目标调整须审批留痕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核算日历（每月）：D1—D3填报 → D4—D5双向确认 → D6—D7项目/部门核算 → D8板块关账 → D9公司关账并公示 → D10随工资兑现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核心公式：个人月度累计综合达标率=【创收达标率×序列创收权重+创利达标率×序列创利权重】×绩效评价系数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评价系数=态度评价系数×50%+合规评价系数×50%；创收创利均由确权工作包点数×计价×验收系数生成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核算结果：K值对照表定年度收入系数；个人月度累计项目总奖金S=Y0×K-累计已发（S1+S2+S3+S4）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六、薪酬结构与月度发放（S1—S4）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薪酬项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发放规则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基础工资S1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深圳市最低工资标准，按考勤发放，保障底线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岗位工资S2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岗位称重定薪；达标率≥60%全额；&lt;60%当月按80%发放，恢复至80%以上补发差额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月度奖金S3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S3=MAX(0,S×兑现比例β)×信用系数C×回款系数R；β按达标率四档（60%/50%/40%/0），余额滚存年度清算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项目奖金S4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lang="zh-CN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确定性成果按里程碑兑现：中标20%、回款50%、验收30%；累计≥500元按月兑现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lang="zh-CN">
                <a:solidFill>
                  <a:srgbClr val="1F3B63"/>
                </a:solidFill>
                <a:latin typeface="微软雅黑"/>
                <a:ea typeface="微软雅黑"/>
              </a:rPr>
              <a:t>▪ K值表（九档）：≥150%→1.50—1.80超额累进；100%—110%→1.00—1.10达标；&lt;60%→0.30—0.45并触发改进/退出</a:t>
            </a:r>
          </a:p>
          <a:p>
            <a:pPr>
              <a:spcAft>
                <a:spcPts val="600"/>
              </a:spcAft>
            </a:pPr>
            <a:r>
              <a:rPr sz="1300" b="0" lang="zh-CN">
                <a:solidFill>
                  <a:srgbClr val="1F3B63"/>
                </a:solidFill>
                <a:latin typeface="微软雅黑"/>
                <a:ea typeface="微软雅黑"/>
              </a:rPr>
              <a:t>▪ 区间线性内插；K值表年度过会审定，年内不得随意调整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七、AI Native绩效管理专章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lang="zh-CN">
                <a:solidFill>
                  <a:srgbClr val="1F3B63"/>
                </a:solidFill>
                <a:latin typeface="微软雅黑"/>
                <a:ea typeface="微软雅黑"/>
              </a:rPr>
              <a:t>▪ 人机分账：申报AI贡献度α，个人点数=基准点数×[(1-α)+α×30%]；AI执行部分70%沉淀为组织资产池点数</a:t>
            </a:r>
          </a:p>
          <a:p>
            <a:pPr>
              <a:spcAft>
                <a:spcPts val="600"/>
              </a:spcAft>
            </a:pPr>
            <a:r>
              <a:rPr sz="1500" b="0" lang="zh-CN">
                <a:solidFill>
                  <a:srgbClr val="1F3B63"/>
                </a:solidFill>
                <a:latin typeface="微软雅黑"/>
                <a:ea typeface="微软雅黑"/>
              </a:rPr>
              <a:t>▪ 成本入账：AI算力与工具成本按用量分摊入核算单元成本，纳入创利核算——用AI也要算得过账</a:t>
            </a:r>
          </a:p>
          <a:p>
            <a:pPr>
              <a:spcAft>
                <a:spcPts val="600"/>
              </a:spcAft>
            </a:pPr>
            <a:r>
              <a:rPr sz="1500" b="0" lang="zh-CN">
                <a:solidFill>
                  <a:srgbClr val="1F3B63"/>
                </a:solidFill>
                <a:latin typeface="微软雅黑"/>
                <a:ea typeface="微软雅黑"/>
              </a:rPr>
              <a:t>▪ AI效能加分：同等质量下工时降≥30%，态度系数+0.05；沉淀的提示词/智能体被复用按次追加研发点数</a:t>
            </a:r>
          </a:p>
          <a:p>
            <a:pPr>
              <a:spcAft>
                <a:spcPts val="600"/>
              </a:spcAft>
            </a:pPr>
            <a:r>
              <a:rPr sz="1500" b="0" lang="zh-CN">
                <a:solidFill>
                  <a:srgbClr val="1F3B63"/>
                </a:solidFill>
                <a:latin typeface="微软雅黑"/>
                <a:ea typeface="微软雅黑"/>
              </a:rPr>
              <a:t>▪ AI效能榜：季度发布个人与部门榜单，纳入晋级评审必答项</a:t>
            </a:r>
          </a:p>
          <a:p>
            <a:pPr>
              <a:spcAft>
                <a:spcPts val="600"/>
              </a:spcAft>
            </a:pPr>
            <a:r>
              <a:rPr sz="1500" b="0" lang="zh-CN">
                <a:solidFill>
                  <a:srgbClr val="1F3B63"/>
                </a:solidFill>
                <a:latin typeface="微软雅黑"/>
                <a:ea typeface="微软雅黑"/>
              </a:rPr>
              <a:t>▪ 红线：AI伪造交付物、虚报工作量按罚则最高档处理；涉密数据禁入未批准的外部AI工具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八、面谈申诉、改进退出、数据治理与罚则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面谈反馈：月度考核后管理者面谈确认结果、指出优缺点、约定改进，平台留痕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三级申诉：面谈后3日内提交；部门负责人→板块负责人→分管副总裁，重大争议报总裁；程序一周内结束；异议部分暂缓、裁定后多退少补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绩效改进：达标率&lt;60%制定改进计划（≤2个月），恢复80%以上退出；连续3个月&lt;60%协商调岗；无岗可调进入待岗培训（含AI技能重塑）；仍不胜任依法解除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数据治理：平台为唯一核算载体，关账冻结、修改留痕、保存≥5年；员工/项目经理/部门负责人/板块负责人分别负真实性责任、主体责任、管理责任、领导责任</a:t>
            </a:r>
          </a:p>
          <a:p>
            <a:pPr>
              <a:spcAft>
                <a:spcPts val="600"/>
              </a:spcAft>
            </a:pPr>
            <a:r>
              <a:rPr sz="1400" b="0" lang="zh-CN">
                <a:solidFill>
                  <a:srgbClr val="1F3B63"/>
                </a:solidFill>
                <a:latin typeface="微软雅黑"/>
                <a:ea typeface="微软雅黑"/>
              </a:rPr>
              <a:t>▪ 罚则四类：数据造假（追回+降信用+处分直至解除）、迟报漏报（扣态度与信用系数）、审核失职（连带责任直至免职）、绕开平台发放（全额追回并追责管理链条）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</a:rPr>
              <a:t>结语与过会请示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lang="zh-CN">
                <a:solidFill>
                  <a:srgbClr val="1F3B63"/>
                </a:solidFill>
                <a:latin typeface="微软雅黑"/>
                <a:ea typeface="微软雅黑"/>
              </a:rPr>
              <a:t>▪ 本版办法把“分钱逻辑”前置、把“算账规则”固化、把“数据责任”压实，实现从原则文件到可执行制度的升级</a:t>
            </a:r>
          </a:p>
          <a:p>
            <a:pPr>
              <a:spcAft>
                <a:spcPts val="600"/>
              </a:spcAft>
            </a:pPr>
            <a:r>
              <a:rPr sz="1600" b="0" lang="zh-CN">
                <a:solidFill>
                  <a:srgbClr val="1F3B63"/>
                </a:solidFill>
                <a:latin typeface="微软雅黑"/>
                <a:ea typeface="微软雅黑"/>
              </a:rPr>
              <a:t>▪ 配套文件：《以个人核算为中心的AI Native组织的多级绩效核算及个人激励发放成套规则》同步提交</a:t>
            </a:r>
          </a:p>
          <a:p>
            <a:pPr>
              <a:spcAft>
                <a:spcPts val="600"/>
              </a:spcAft>
            </a:pPr>
            <a:r>
              <a:rPr sz="1600" b="0" lang="zh-CN">
                <a:solidFill>
                  <a:srgbClr val="1F3B63"/>
                </a:solidFill>
                <a:latin typeface="微软雅黑"/>
                <a:ea typeface="微软雅黑"/>
              </a:rPr>
              <a:t>▪ 请示事项：① 审定九档K值对照表与PU计价授权机制；② 审定板块层级核算架构与责任人任命；③ 批准3个月双轨试算过渡期安排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